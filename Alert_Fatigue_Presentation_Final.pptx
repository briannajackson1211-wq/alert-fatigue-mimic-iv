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Evaluating Alert Fatigue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Clinical Decision Support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DD8E6"/>
                </a:solidFill>
                <a:latin typeface="Calibri"/>
              </a:rPr>
              <a:t>A Study of ICU Alert Burden Using MIMIC-IV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429000"/>
            <a:ext cx="5788152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Brianna D. Jackson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DD8E6"/>
                </a:solidFill>
                <a:latin typeface="Calibri"/>
              </a:rPr>
              <a:t>North Carolina Agricultural and Technical State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DD8E6"/>
                </a:solidFill>
                <a:latin typeface="Calibri"/>
              </a:rPr>
              <a:t>DAAN 784 — Final Project Report  | 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00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7CEEB"/>
                </a:solidFill>
                <a:latin typeface="Calibri"/>
              </a:rPr>
              <a:t>Advisor: Dr. Seongtae Kim  |  Instructor: Dr. Abeer Hasan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Presentation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447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Problem Statement &amp; 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74519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What is alert fatigue and why does it matter?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44475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Research Questions &amp;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874519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MIMIC-IV, study design, and methodology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9992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Statistical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2900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Why negative binomial regression?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92608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01752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3017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9992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Key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42900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Unit-level findings, demographics, and temporal patterns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8056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5537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Scenario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9834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Simulated suppression strategies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448056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89120" y="4572000"/>
            <a:ext cx="50292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4572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45537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Conclusions &amp; Recommendations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49834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Practical implications for CDS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is Alert Fatigue?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303520" cy="18288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09728" cy="1828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7293"/>
                </a:solidFill>
                <a:latin typeface="Calibri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Calibri"/>
              </a:rPr>
              <a:t>Desensitization of clinicians exposed to excessive volumes of automated alerts, leading to habitual overriding — including dismissal of clinically critical warnings.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337560"/>
            <a:ext cx="347472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4290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8C00"/>
                </a:solidFill>
                <a:latin typeface="Calibri"/>
              </a:rPr>
              <a:t>77–90%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Alert override rate
in clinical settings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3337560"/>
            <a:ext cx="347472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34290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8C00"/>
                </a:solidFill>
                <a:latin typeface="Calibri"/>
              </a:rPr>
              <a:t>200+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Deaths linked to
missed alarms (5 yrs)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3337560"/>
            <a:ext cx="347472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0" y="34290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8C00"/>
                </a:solidFill>
                <a:latin typeface="Calibri"/>
              </a:rPr>
              <a:t>7,000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4069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Daily alerts per
ICU clinician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325880"/>
            <a:ext cx="5852160" cy="18288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3504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The Paradox of Safety Alerts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783080"/>
            <a:ext cx="2743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783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Too many alerts generated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103120"/>
            <a:ext cx="2743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2103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Clinicians become desensitized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423160"/>
            <a:ext cx="27432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Critical alerts get dismissed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743200"/>
            <a:ext cx="274320" cy="25603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2743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Patient safety is compromised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8920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BB0"/>
                </a:solidFill>
                <a:latin typeface="Calibri"/>
              </a:rPr>
              <a:t>Source: AHRQ (2019); Seto et al. (2020); Wong et al. (2023)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Research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19202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Proprietary Data Barrier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4A"/>
                </a:solidFill>
                <a:latin typeface="Calibri"/>
              </a:rPr>
              <a:t>Most alert fatigue studies rely on single-institution EHR data not available to outside researchers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19202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No Unit-Level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4A"/>
                </a:solidFill>
                <a:latin typeface="Calibri"/>
              </a:rPr>
              <a:t>Studies evaluate CDS performance system-wide, missing critical differences between ICU unit types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5486400" cy="19202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548640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Underuse of Count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4A"/>
                </a:solidFill>
                <a:latin typeface="Calibri"/>
              </a:rPr>
              <a:t>Clinical event data are counts — yet most studies use methods not designed for overdispersed count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566160"/>
            <a:ext cx="5486400" cy="19202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548640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703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Limited Reproducibility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605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4A"/>
                </a:solidFill>
                <a:latin typeface="Calibri"/>
              </a:rPr>
              <a:t>Without open data, findings cannot be replicated or compared across healthcare settings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This Study Addresses All Four Gaps Using MIMIC-IV + Negative Binomial Regression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69280"/>
            <a:ext cx="1143000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574243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This Study Addresses All Four Gaps Using MIMIC-IV + Negative Binomial Regression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097280" cy="1371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371600"/>
            <a:ext cx="10241280" cy="1371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14630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7293"/>
                </a:solidFill>
                <a:latin typeface="Calibri"/>
              </a:rPr>
              <a:t>Alert Burden Quantification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01952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4A"/>
                </a:solidFill>
                <a:latin typeface="Calibri"/>
              </a:rPr>
              <a:t>How does the volume and rate of clinical events vary across ICU encounters, and which patient or encounter characteristics are associated with higher event burden?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109728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3337560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17520"/>
            <a:ext cx="10241280" cy="1371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31089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Event Composition &amp;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47872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4A"/>
                </a:solidFill>
                <a:latin typeface="Calibri"/>
              </a:rPr>
              <a:t>How do medication orders and laboratory events each contribute to overall burden, and how does this differ across ICU unit types when accounting for length of stay?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097280" cy="13716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4983479"/>
            <a:ext cx="1097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4663440"/>
            <a:ext cx="10241280" cy="1371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0" y="4754879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8C00"/>
                </a:solidFill>
                <a:latin typeface="Calibri"/>
              </a:rPr>
              <a:t>Suppression Scenario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193792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4A"/>
                </a:solidFill>
                <a:latin typeface="Calibri"/>
              </a:rPr>
              <a:t>Under hypothetical alert suppression strategies targeting duplicate medication orders and laboratory event thresholding, how much could total event burden decrease?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C7293"/>
                </a:solidFill>
                <a:latin typeface="Calibri"/>
              </a:rPr>
              <a:t>Progression: Description → Modeling → Intervention Simulation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 Source: MIMIC-IV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560320" cy="12801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8C00"/>
                </a:solidFill>
                <a:latin typeface="Calibri"/>
              </a:rPr>
              <a:t>94,444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ICU Stays
Analyzed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325880"/>
            <a:ext cx="2560320" cy="1280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417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8C00"/>
                </a:solidFill>
                <a:latin typeface="Calibri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Variables
in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25880"/>
            <a:ext cx="2560320" cy="12801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1417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8C00"/>
                </a:solidFill>
                <a:latin typeface="Calibri"/>
              </a:rPr>
              <a:t>2008–2019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Data
Time 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325880"/>
            <a:ext cx="2560320" cy="12801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0" y="14173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8C00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De-identified
&amp; Open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5394960" cy="26517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788920"/>
            <a:ext cx="53949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852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About MIMIC-IV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101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Developed by MIT Lab for Computational Physiology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124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Beth Israel Deaconess Medical Center source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Two modules: hosp (hospital EHR) + icu (MetaVision)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171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Freely available via PhysioNet with credentialing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19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364,627 unique patients across v3.0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788920"/>
            <a:ext cx="5669280" cy="26517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2788920"/>
            <a:ext cx="566928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28529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Proxy Approach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2918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Because direct CDS alert logs are proprietary and unavailable, this study uses: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886200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9136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7293"/>
                </a:solidFill>
                <a:latin typeface="Calibri"/>
              </a:rPr>
              <a:t>▸  Medication orders → alert triggers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325112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43525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7293"/>
                </a:solidFill>
                <a:latin typeface="Calibri"/>
              </a:rPr>
              <a:t>▸  Laboratory events → alert triggers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764024"/>
            <a:ext cx="5303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47914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7293"/>
                </a:solidFill>
                <a:latin typeface="Calibri"/>
              </a:rPr>
              <a:t>▸  Total events per ICU day → primary outcome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5778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BB0"/>
                </a:solidFill>
                <a:latin typeface="Calibri"/>
              </a:rPr>
              <a:t>Supported by: Kouri et al. (2023) — clinical event frequency as alert exposure proxy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Methodology &amp; Variables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474720" cy="2286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47472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Outcome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rx_per_day — Medication orders/ICU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labs_per_day — Lab events/ICU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total_events_per_day — Primary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325880"/>
            <a:ext cx="3474720" cy="2286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0" y="1325880"/>
            <a:ext cx="34747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Predictor 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first_careunit — ICU unit type (ref: CVICU)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anchor_age — Patient 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gender — Patient sex (M/F)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325880"/>
            <a:ext cx="3931920" cy="22860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63840" y="1325880"/>
            <a:ext cx="3931920" cy="41148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79" y="137160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Model Offset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log(icu_los_days)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240280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Converts raw counts to per-day rates — ensures fair comparison across stays of different lengths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11430000" cy="26517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749039"/>
            <a:ext cx="11430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82219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Data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06240"/>
            <a:ext cx="1645920" cy="1645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25196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Join tables
(patients +
admissions +
icustays)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" y="4800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60" y="4206240"/>
            <a:ext cx="1645920" cy="1645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68879" y="425196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Aggregate
prescriptions
&amp; lab 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87368" y="4800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79" y="4206240"/>
            <a:ext cx="1645920" cy="1645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43399" y="425196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Winsorize
labs at
99th pct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4800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199" y="4206240"/>
            <a:ext cx="1645920" cy="1645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19" y="425196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Collapse
sparse units
(n &lt; 200)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36407" y="4800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19" y="4206240"/>
            <a:ext cx="1645920" cy="1645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92440" y="425196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Derive
rate variables
per ICU 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4800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21240" y="4206240"/>
            <a:ext cx="1645920" cy="164592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66960" y="425196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Negative
Binomial
Regression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Negative Binomial Regression?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28600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51760" y="1325880"/>
            <a:ext cx="25603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97479" y="137160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Linear 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325880"/>
            <a:ext cx="25603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0" y="137160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Poisson Regression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25880"/>
            <a:ext cx="27432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13716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Negative Binomial 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2880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18470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4A4A"/>
                </a:solidFill>
                <a:latin typeface="Calibri"/>
              </a:rPr>
              <a:t>Handles counts?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182880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97479" y="184708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  <a:latin typeface="Calibri"/>
              </a:rPr>
              <a:t>✗ 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182880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184708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  <a:latin typeface="Calibri"/>
              </a:rPr>
              <a:t>✓ 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8288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184708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  <a:latin typeface="Calibri"/>
              </a:rPr>
              <a:t>✓ 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31720"/>
            <a:ext cx="2286000" cy="5029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235000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4A4A"/>
                </a:solidFill>
                <a:latin typeface="Calibri"/>
              </a:rPr>
              <a:t>Handles overdispersion?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2331720"/>
            <a:ext cx="2560320" cy="5029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97479" y="235000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  <a:latin typeface="Calibri"/>
              </a:rPr>
              <a:t>✗ 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2331720"/>
            <a:ext cx="2560320" cy="5029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57800" y="235000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  <a:latin typeface="Calibri"/>
              </a:rPr>
              <a:t>✗ 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2331720"/>
            <a:ext cx="2743200" cy="5029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8120" y="235000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  <a:latin typeface="Calibri"/>
              </a:rPr>
              <a:t>✓ 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83464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28529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4A4A"/>
                </a:solidFill>
                <a:latin typeface="Calibri"/>
              </a:rPr>
              <a:t>Prevents negative predictions?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283464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97479" y="285292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  <a:latin typeface="Calibri"/>
              </a:rPr>
              <a:t>✗ 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2834640"/>
            <a:ext cx="2560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57800" y="285292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  <a:latin typeface="Calibri"/>
              </a:rPr>
              <a:t>✓ 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283464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18120" y="285292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  <a:latin typeface="Calibri"/>
              </a:rPr>
              <a:t>✓ 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37560"/>
            <a:ext cx="2286000" cy="5029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33558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4A4A"/>
                </a:solidFill>
                <a:latin typeface="Calibri"/>
              </a:rPr>
              <a:t>Reliable standard errors?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3337560"/>
            <a:ext cx="2560320" cy="5029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97479" y="335584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  <a:latin typeface="Calibri"/>
              </a:rPr>
              <a:t>✗ 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337560"/>
            <a:ext cx="2560320" cy="5029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57800" y="335584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392B"/>
                </a:solidFill>
                <a:latin typeface="Calibri"/>
              </a:rPr>
              <a:t>✗ Inflated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3337560"/>
            <a:ext cx="2743200" cy="5029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18120" y="33558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7AE60"/>
                </a:solidFill>
                <a:latin typeface="Calibri"/>
              </a:rPr>
              <a:t>✓ 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840480"/>
            <a:ext cx="2286000" cy="5029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1480" y="38587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4A4A"/>
                </a:solidFill>
                <a:latin typeface="Calibri"/>
              </a:rPr>
              <a:t>Used in this study?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3840480"/>
            <a:ext cx="2560320" cy="5029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697479" y="385876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✗ 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12080" y="3840480"/>
            <a:ext cx="2560320" cy="5029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57800" y="385876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✗ Rejected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3840480"/>
            <a:ext cx="2743200" cy="5029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18120" y="38587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60"/>
                </a:solidFill>
                <a:latin typeface="Calibri"/>
              </a:rPr>
              <a:t>✓ 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434840"/>
            <a:ext cx="356616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44988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Variance/Mean Ratios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846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8C00"/>
                </a:solidFill>
                <a:latin typeface="Calibri"/>
              </a:rPr>
              <a:t>119 to 1,178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349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DD8E6"/>
                </a:solidFill>
                <a:latin typeface="Calibri"/>
              </a:rPr>
              <a:t>across 3 outcome variables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4434840"/>
            <a:ext cx="3657600" cy="1371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97680" y="4498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Likelihood Ratio Test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80" y="4846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8C00"/>
                </a:solidFill>
                <a:latin typeface="Calibri"/>
              </a:rPr>
              <a:t>χ² = 8,224,010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97680" y="5349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 &lt; 0.0001 — NB fits overwhelmingly better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38160" y="4434840"/>
            <a:ext cx="3657600" cy="13716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229600" y="4498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Dispersion Parameter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4846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θ = 1.063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5349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Confirms NB model accounts for excess variability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Descriptive Statistics: Cohort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256032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08C00"/>
                </a:solidFill>
                <a:latin typeface="Calibri"/>
              </a:rPr>
              <a:t>94,444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Total ICU Stays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325880"/>
            <a:ext cx="2560320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371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08C00"/>
                </a:solidFill>
                <a:latin typeface="Calibri"/>
              </a:rPr>
              <a:t>63.0 yrs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7451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Mean Patient 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25880"/>
            <a:ext cx="2560320" cy="10058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1371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56% Male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87451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44% Female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325880"/>
            <a:ext cx="256032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0" y="1371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08C00"/>
                </a:solidFill>
                <a:latin typeface="Calibri"/>
              </a:rPr>
              <a:t>2.0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87451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Median ICU LOS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68880"/>
            <a:ext cx="53035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49631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Outcome Variable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496312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496312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Median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80360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290779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Medication Orders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2880360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37560" y="2907792"/>
            <a:ext cx="10058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  <a:latin typeface="Calibri"/>
              </a:rPr>
              <a:t>113.8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880360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2907792"/>
            <a:ext cx="10058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  <a:latin typeface="Calibri"/>
              </a:rPr>
              <a:t>83.0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355848"/>
            <a:ext cx="2926080" cy="47548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338328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Laboratory Events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3355848"/>
            <a:ext cx="1097280" cy="47548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37560" y="3383280"/>
            <a:ext cx="10058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  <a:latin typeface="Calibri"/>
              </a:rPr>
              <a:t>380.6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355848"/>
            <a:ext cx="1097280" cy="47548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3383280"/>
            <a:ext cx="10058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  <a:latin typeface="Calibri"/>
              </a:rPr>
              <a:t>198.0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831335"/>
            <a:ext cx="2926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385876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Total CDS Events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3831335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37560" y="3858768"/>
            <a:ext cx="10058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  <a:latin typeface="Calibri"/>
              </a:rPr>
              <a:t>494.4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3831335"/>
            <a:ext cx="10972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34840" y="3858768"/>
            <a:ext cx="10058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  <a:latin typeface="Calibri"/>
              </a:rPr>
              <a:t>280.0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306824"/>
            <a:ext cx="2926080" cy="47548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433425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4A4A"/>
                </a:solidFill>
                <a:latin typeface="Calibri"/>
              </a:rPr>
              <a:t>Events per ICU Day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4306824"/>
            <a:ext cx="1097280" cy="47548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37560" y="4334256"/>
            <a:ext cx="10058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4A4A"/>
                </a:solidFill>
                <a:latin typeface="Calibri"/>
              </a:rPr>
              <a:t>330.8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4306824"/>
            <a:ext cx="1097280" cy="47548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34840" y="4334256"/>
            <a:ext cx="10058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4A4A"/>
                </a:solidFill>
                <a:latin typeface="Calibri"/>
              </a:rPr>
              <a:t>126.9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24688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Variance-to-Mean Ratios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28346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Calibri"/>
              </a:rPr>
              <a:t>(Values &gt;&gt; 1.0 confirm severe overdispersion — Poisson fails)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31089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0392B"/>
                </a:solidFill>
                <a:latin typeface="Calibri"/>
              </a:rPr>
              <a:t>Poisson threshold = 1.0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429000"/>
            <a:ext cx="5669279" cy="5943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43600" y="3429000"/>
            <a:ext cx="562203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35040" y="35204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Medication
Orders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78955" y="353872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7293"/>
                </a:solidFill>
                <a:latin typeface="Calibri"/>
              </a:rPr>
              <a:t>119×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4279392"/>
            <a:ext cx="5669279" cy="5943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943600" y="4279392"/>
            <a:ext cx="5560618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35040" y="4370831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Lab
Events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77370" y="43891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1,177×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5129784"/>
            <a:ext cx="5669279" cy="59436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943600" y="5129784"/>
            <a:ext cx="5385815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35040" y="522122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Total CDS
Events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02567" y="523951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1,140×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0" y="3383280"/>
            <a:ext cx="27432" cy="2971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1C7293"/>
                </a:solidFill>
                <a:latin typeface="Calibri"/>
              </a:rPr>
              <a:t>All three outcomes show severe overdispersion — confirming negative binomial regression is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Temporal Patterns: When Alerts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Orders by Clinical Shift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29967"/>
            <a:ext cx="1188720" cy="19933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6420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7293"/>
                </a:solidFill>
                <a:latin typeface="Calibri"/>
              </a:rPr>
              <a:t>43.6%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  <a:latin typeface="Calibri"/>
              </a:rPr>
              <a:t>Day
7am–3pm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2313432"/>
            <a:ext cx="1188720" cy="170992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19476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5A82"/>
                </a:solidFill>
                <a:latin typeface="Calibri"/>
              </a:rPr>
              <a:t>37.4%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0690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  <a:latin typeface="Calibri"/>
              </a:rPr>
              <a:t>Evening
3pm–11pm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3154680"/>
            <a:ext cx="1188720" cy="86868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27889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4A4A"/>
                </a:solidFill>
                <a:latin typeface="Calibri"/>
              </a:rPr>
              <a:t>19.0%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0690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  <a:latin typeface="Calibri"/>
              </a:rPr>
              <a:t>Night
11pm–7am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17720"/>
            <a:ext cx="5029200" cy="54864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4709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81.4% of orders in day + evening shifts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325880"/>
            <a:ext cx="6126480" cy="34747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0" y="1325880"/>
            <a:ext cx="612648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06440" y="14173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Peak Ordering Hours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1920240"/>
            <a:ext cx="1188720" cy="6858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06440" y="19659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8:00 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2677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8C00"/>
                </a:solidFill>
                <a:latin typeface="Calibri"/>
              </a:rPr>
              <a:t>10.7%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0574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Morning rounds — highest cognitive demand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2834640"/>
            <a:ext cx="1188720" cy="685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06440" y="2880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8:00 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318211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8C00"/>
                </a:solidFill>
                <a:latin typeface="Calibri"/>
              </a:rPr>
              <a:t>9.0%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971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Evening shift transition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3749039"/>
            <a:ext cx="1188720" cy="685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06440" y="379475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10:00 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4096511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08C00"/>
                </a:solidFill>
                <a:latin typeface="Calibri"/>
              </a:rPr>
              <a:t>7.2%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886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Late morning clinical activity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120640"/>
            <a:ext cx="1143000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193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60-Minute Burst Activity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  <a:latin typeface="Calibri"/>
              </a:rPr>
              <a:t>Median Burst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97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C00"/>
                </a:solidFill>
                <a:latin typeface="Calibri"/>
              </a:rPr>
              <a:t>18 orders/hr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  <a:latin typeface="Calibri"/>
              </a:rPr>
              <a:t>High Threshold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897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C00"/>
                </a:solidFill>
                <a:latin typeface="Calibri"/>
              </a:rPr>
              <a:t>20+ orders/hr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  <a:latin typeface="Calibri"/>
              </a:rPr>
              <a:t>Very 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897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C00"/>
                </a:solidFill>
                <a:latin typeface="Calibri"/>
              </a:rPr>
              <a:t>30+ orders/hr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5577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D8E6"/>
                </a:solidFill>
                <a:latin typeface="Calibri"/>
              </a:rPr>
              <a:t>Max Observed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8978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C00"/>
                </a:solidFill>
                <a:latin typeface="Calibri"/>
              </a:rPr>
              <a:t>432 orders/hr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Results: ICU Unit Type &amp; Alert Burden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4A4A"/>
                </a:solidFill>
                <a:latin typeface="Calibri"/>
              </a:rPr>
              <a:t>Total CDS Events per Day — Incidence Rate Ratios vs. CVICU Reference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34071" y="1645920"/>
            <a:ext cx="36576" cy="4572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95159" y="1280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IRR = 1.0
(CVICU)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Calibri"/>
              </a:rPr>
              <a:t>PACU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59" y="1783080"/>
            <a:ext cx="2621264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65064" y="17373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1.659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762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0392B"/>
                </a:solidFill>
                <a:latin typeface="Calibri"/>
              </a:rPr>
              <a:t>MICU/SICU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59" y="2221992"/>
            <a:ext cx="803483" cy="2286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7283" y="21762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1.202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151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4A4A4A"/>
                </a:solidFill>
                <a:latin typeface="Calibri"/>
              </a:rPr>
              <a:t>CVICU (ref)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59" y="2660904"/>
            <a:ext cx="45720" cy="2286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799" y="261518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4A4A"/>
                </a:solidFill>
                <a:latin typeface="Calibri"/>
              </a:rPr>
              <a:t>1.000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05409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C7293"/>
                </a:solidFill>
                <a:latin typeface="Calibri"/>
              </a:rPr>
              <a:t>SICU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85858" y="3099816"/>
            <a:ext cx="266501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37218" y="305409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0.933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4930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C7293"/>
                </a:solidFill>
                <a:latin typeface="Calibri"/>
              </a:rPr>
              <a:t>CCU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91512" y="3538728"/>
            <a:ext cx="560847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42872" y="34930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0.859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9319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C7293"/>
                </a:solidFill>
                <a:latin typeface="Calibri"/>
              </a:rPr>
              <a:t>MICU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75602" y="3977639"/>
            <a:ext cx="576757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6962" y="39319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0.855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3708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C7293"/>
                </a:solidFill>
                <a:latin typeface="Calibri"/>
              </a:rPr>
              <a:t>Trauma SICU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63669" y="4416552"/>
            <a:ext cx="588690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15029" y="43708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0.852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8097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C7293"/>
                </a:solidFill>
                <a:latin typeface="Calibri"/>
              </a:rPr>
              <a:t>Neuro SICU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1048" y="4855464"/>
            <a:ext cx="1901311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02408" y="480974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0.522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248655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C7293"/>
                </a:solidFill>
                <a:latin typeface="Calibri"/>
              </a:rPr>
              <a:t>Neuro Stepdown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37373" y="5294375"/>
            <a:ext cx="2314986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88733" y="5248655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0.418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6875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C7293"/>
                </a:solidFill>
                <a:latin typeface="Calibri"/>
              </a:rPr>
              <a:t>Neuro Intermediate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26493" y="5733288"/>
            <a:ext cx="3225866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77853" y="56875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0.189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80659" y="6172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0.5×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79" y="6172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1.0×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8300" y="6172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1.5×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172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  <a:latin typeface="Calibri"/>
              </a:rPr>
              <a:t>2.0×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897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A4A4A"/>
                </a:solidFill>
                <a:latin typeface="Calibri"/>
              </a:rPr>
              <a:t>← Fewer events than CVICU     |     More events than CVICU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Results: Key Findings Across All Three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65760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533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Model 1
Medication Orders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3657600" cy="9601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731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PACU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IRR = 7.205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420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620% MORE than CVICU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71800"/>
            <a:ext cx="36576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971800"/>
            <a:ext cx="73152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017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Neuro Intermediate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19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libri"/>
              </a:rPr>
              <a:t>IRR = 0.310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935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69% FEWER than CVICU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3657600" cy="9601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73152" cy="96012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Gender (M vs 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370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4A4A"/>
                </a:solidFill>
                <a:latin typeface="Calibri"/>
              </a:rPr>
              <a:t>IRR = 1.006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451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NOT significant (p = 0.358)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74920"/>
            <a:ext cx="36576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074920"/>
            <a:ext cx="73152" cy="96012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5120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22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4A4A"/>
                </a:solidFill>
                <a:latin typeface="Calibri"/>
              </a:rPr>
              <a:t>IRR = 0.998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9671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Significant but tiny effect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325880"/>
            <a:ext cx="365760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43400" y="13533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Model 2
Laboratory Events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1920240"/>
            <a:ext cx="3657600" cy="9601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97680" y="1920240"/>
            <a:ext cx="731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3484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MICU/SICU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2267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IRR = 1.423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25420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42% MORE than CVICU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2971800"/>
            <a:ext cx="36576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97680" y="2971800"/>
            <a:ext cx="73152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34840" y="3017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Neuro Intermediate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3319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libri"/>
              </a:rPr>
              <a:t>IRR = 0.164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5935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84% FEWER than CVICU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4023360"/>
            <a:ext cx="3657600" cy="9601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97680" y="4023360"/>
            <a:ext cx="731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3484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PACU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370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IRR = 0.004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6451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Reversal — very low lab use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5074920"/>
            <a:ext cx="36576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297680" y="5074920"/>
            <a:ext cx="73152" cy="96012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34840" y="5120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Gender (M vs F)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5422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4A4A"/>
                </a:solidFill>
                <a:latin typeface="Calibri"/>
              </a:rPr>
              <a:t>IRR = 1.015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569671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NOT significant (p = 0.255)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1325880"/>
            <a:ext cx="3657600" cy="50292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75320" y="13533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Model 3
Total CDS Events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1920240"/>
            <a:ext cx="3657600" cy="9601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229600" y="1920240"/>
            <a:ext cx="73152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66760" y="19659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MICU/SICU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267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IRR = 1.202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54203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20% MORE than CVICU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2971800"/>
            <a:ext cx="36576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229600" y="2971800"/>
            <a:ext cx="73152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66760" y="3017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Neuro Intermediate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3319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libri"/>
              </a:rPr>
              <a:t>IRR = 0.189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35935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81% FEWER than CVICU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4023360"/>
            <a:ext cx="3657600" cy="9601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229600" y="4023360"/>
            <a:ext cx="73152" cy="96012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36676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Gender (M vs F)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43708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C00"/>
                </a:solidFill>
                <a:latin typeface="Calibri"/>
              </a:rPr>
              <a:t>IRR = 1.035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66760" y="46451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Significant — 3.5% more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5074920"/>
            <a:ext cx="36576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229600" y="5074920"/>
            <a:ext cx="73152" cy="96012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366760" y="5120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66760" y="5422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4A4A"/>
                </a:solidFill>
                <a:latin typeface="Calibri"/>
              </a:rPr>
              <a:t>IRR = 0.998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66760" y="569671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  <a:latin typeface="Calibri"/>
              </a:rPr>
              <a:t>Significant but tiny effect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62636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ICU unit type consistently outperforms demographics as a predictor across all three models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6172200"/>
            <a:ext cx="11430000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65760" y="6245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ICU unit type consistently outperforms demographics as a predictor across all three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Demographic Predictors: What Does NOT Drive Alert Burden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C7293"/>
                </a:solidFill>
                <a:latin typeface="Calibri"/>
              </a:rPr>
              <a:t>Non-significant findings are equally informative — they tell CDS teams where NOT to focus optimization efforts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11430000" cy="1371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9144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Patient 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105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IRR = 0.998 per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Statistically significant across all models but effect size is negligible — 0.2% decrease per additional year of 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5A82"/>
                </a:solidFill>
                <a:latin typeface="Calibri"/>
              </a:rPr>
              <a:t>Implication: Age-based alert customization is unlikely to be a productive standalone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46120"/>
            <a:ext cx="11430000" cy="1371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91440" cy="1371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3192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libri"/>
              </a:rPr>
              <a:t>Gender (Models 1 &amp;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31927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IRR ≈ 1.006–1.015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NOT statistically significant in medication orders (p = 0.358) or laboratory events (p = 0.255)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42231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1C7293"/>
                </a:solidFill>
                <a:latin typeface="Calibri"/>
              </a:rPr>
              <a:t>Implication: Male and female patients have essentially equivalent daily event rates in individual models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54879"/>
            <a:ext cx="11430000" cy="1371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4754879"/>
            <a:ext cx="91440" cy="13716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82803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8C00"/>
                </a:solidFill>
                <a:latin typeface="Calibri"/>
              </a:rPr>
              <a:t>Gender (Model 3 — Total)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82803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IRR = 1.035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21207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Statistically significant in total events model — males generate 3.5% more events per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65099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F08C00"/>
                </a:solidFill>
                <a:latin typeface="Calibri"/>
              </a:rPr>
              <a:t>Implication: Small aggregate difference unlikely to drive meaningful variation in alert exposure at unit level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Suppression Scenario Analysis (RQ3)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303520" cy="1143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99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8C00"/>
                </a:solidFill>
                <a:latin typeface="Calibri"/>
              </a:rPr>
              <a:t>494.4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7451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avg events/stay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No 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87752"/>
            <a:ext cx="5303520" cy="1143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6609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S1: Rx −15%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4495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8C00"/>
                </a:solidFill>
                <a:latin typeface="Calibri"/>
              </a:rPr>
              <a:t>~420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136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avg events/stay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564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Medication deduplication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9624"/>
            <a:ext cx="5303520" cy="1143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9227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S2: Lab −20%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0682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8C00"/>
                </a:solidFill>
                <a:latin typeface="Calibri"/>
              </a:rPr>
              <a:t>~395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3982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avg events/stay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183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Lab redundancy suppression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11496"/>
            <a:ext cx="5303520" cy="11430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1846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S3: Combined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56869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~337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6601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avg events/stay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801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Both strategies applied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3258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Estimated Reduction in Average Events per Stay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828800"/>
            <a:ext cx="5760720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35040" y="1828800"/>
            <a:ext cx="5178363" cy="658368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86555" y="2011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4A4A"/>
                </a:solidFill>
                <a:latin typeface="Calibri"/>
              </a:rPr>
              <a:t>494.4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011680"/>
            <a:ext cx="49954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688336"/>
            <a:ext cx="5760720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35040" y="2688336"/>
            <a:ext cx="4399095" cy="6583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479855" y="2825496"/>
            <a:ext cx="109728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479855" y="28529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−15.0%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79" y="2871216"/>
            <a:ext cx="4216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S1: Rx Dedup −15%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547872"/>
            <a:ext cx="5760720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35040" y="3547872"/>
            <a:ext cx="4137244" cy="65836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218004" y="3685032"/>
            <a:ext cx="109728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18004" y="371246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−20.1%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79" y="3730752"/>
            <a:ext cx="39543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S2: Lab Suppress −20%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4407408"/>
            <a:ext cx="5760720" cy="658368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035040" y="4407408"/>
            <a:ext cx="3529750" cy="658368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610510" y="4544568"/>
            <a:ext cx="109728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10510" y="457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−31.8%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79" y="4590288"/>
            <a:ext cx="334687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S3: Combined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79" y="5394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B0"/>
                </a:solidFill>
                <a:latin typeface="Calibri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5283" y="5394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B0"/>
                </a:solidFill>
                <a:latin typeface="Calibri"/>
              </a:rPr>
              <a:t>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92687" y="5394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B0"/>
                </a:solidFill>
                <a:latin typeface="Calibri"/>
              </a:rPr>
              <a:t>200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0090" y="5394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B0"/>
                </a:solidFill>
                <a:latin typeface="Calibri"/>
              </a:rPr>
              <a:t>300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87494" y="5394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B0"/>
                </a:solidFill>
                <a:latin typeface="Calibri"/>
              </a:rPr>
              <a:t>400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72053" y="5394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B0"/>
                </a:solidFill>
                <a:latin typeface="Calibri"/>
              </a:rPr>
              <a:t>494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5669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A4A4A"/>
                </a:solidFill>
                <a:latin typeface="Calibri"/>
              </a:rPr>
              <a:t>Average CDS-Triggering Events per Stay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943600"/>
            <a:ext cx="11430000" cy="6858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65760" y="5943600"/>
            <a:ext cx="11430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4A4A"/>
                </a:solidFill>
                <a:latin typeface="Calibri"/>
              </a:rPr>
              <a:t>⚠ These are simulations — not measured interventions. Results represent estimated potential impact to guide CDS optimization planning.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Discussion: What the Findings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577840" cy="2011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577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7293"/>
                </a:solidFill>
                <a:latin typeface="Calibri"/>
              </a:rPr>
              <a:t>Unit Type Drives Alert Burden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38528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ICU unit type — not patient demographics — is the primary driver of CDS event exposure. MICU/SICU generates 20% more events than CVICU; Neuro Intermediate 81% fewer. Unit-specific workflows matter more than who the patient 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577840" cy="2011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57784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8C00"/>
                </a:solidFill>
                <a:latin typeface="Calibri"/>
              </a:rPr>
              <a:t>The PACU Paradox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38528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PACU had the highest medication ordering rates but the lowest laboratory activity. The same alert thresholds applied across both units would be poorly calibrated for either setting — demonstrating why unit-specific configuration is essential.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57600"/>
            <a:ext cx="5577840" cy="2011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557784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Alert Timing Amplifies Fatigue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24528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81.4% of orders cluster in day and evening shifts — precisely when clinicians face the highest cognitive demand. Alert systems are most overloaded when clinicians can least afford to be interrupted.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5577840" cy="201168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557784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794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7293"/>
                </a:solidFill>
                <a:latin typeface="Calibri"/>
              </a:rPr>
              <a:t>Open Data Approach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224528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This study demonstrates that MIMIC-IV clinical event data can serve as a reliable proxy for alert exposure — providing a reproducible framework that does not require access to proprietary EHR alert logs.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Practical Recommendations for CDS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1417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94360" cy="1417320"/>
          </a:xfrm>
          <a:prstGeom prst="rect">
            <a:avLst/>
          </a:prstGeom>
          <a:solidFill>
            <a:srgbClr val="02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Calibrate Alerts by ICU 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0195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Set alert thresholds and suppression rules at the unit level. High-volume units like MICU/SICU need more aggressive filtering; lower-volume units need highly relevant alerts.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1417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94360" cy="1417320"/>
          </a:xfrm>
          <a:prstGeom prst="rect">
            <a:avLst/>
          </a:prstGeom>
          <a:solidFill>
            <a:srgbClr val="02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463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Reduce Duplicate &amp; Redundant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90195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Implement deduplication for repeated medication warnings and suppression thresholds for redundant lab triggers within short time windows.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71800"/>
            <a:ext cx="5486400" cy="141732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971800"/>
            <a:ext cx="594360" cy="1417320"/>
          </a:xfrm>
          <a:prstGeom prst="rect">
            <a:avLst/>
          </a:prstGeom>
          <a:solidFill>
            <a:srgbClr val="02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3375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63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Implement Shift-Aware Alert 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0215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Reduce non-urgent notifications during peak ordering periods (8am, 10am, 8pm) when clinician cognitive demand is already highest.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971800"/>
            <a:ext cx="5486400" cy="1417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971800"/>
            <a:ext cx="594360" cy="1417320"/>
          </a:xfrm>
          <a:prstGeom prst="rect">
            <a:avLst/>
          </a:prstGeom>
          <a:solidFill>
            <a:srgbClr val="02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33375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063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Use Local Data for CDS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502152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Hospitals can use medication orders, lab activity, and LOS patterns to identify where alert burden is highest — even without access to direct alert logs.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572000"/>
            <a:ext cx="5486400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74720" y="4572000"/>
            <a:ext cx="594360" cy="1371600"/>
          </a:xfrm>
          <a:prstGeom prst="rect">
            <a:avLst/>
          </a:prstGeom>
          <a:solidFill>
            <a:srgbClr val="02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74720" y="48920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6451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Move Away from One-Size-Fits-All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507492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System-wide alert rules cannot account for the fundamental differences in workflow, acuity, and ordering patterns across ICU unit types.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88720" cy="12344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RQ1 ✓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1417320"/>
            <a:ext cx="10241280" cy="1234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37360" y="16002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4A"/>
                </a:solidFill>
                <a:latin typeface="Calibri"/>
              </a:rPr>
              <a:t>Alert burden is NOT uniform across ICU encounters — it varies substantially by unit type, with MICU/SICU generating 20% more events and Neuro Intermediate 81% fewer than CVICU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80360"/>
            <a:ext cx="1188720" cy="1234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2004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RQ2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2880360"/>
            <a:ext cx="10241280" cy="1234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37360" y="30632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4A"/>
                </a:solidFill>
                <a:latin typeface="Calibri"/>
              </a:rPr>
              <a:t>Medication orders and lab events contribute differently across units — the PACU reversal (high Rx, very low labs) demonstrates why unit-specific thresholds are essential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343400"/>
            <a:ext cx="1188720" cy="123444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46634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RQ3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4343400"/>
            <a:ext cx="10241280" cy="123444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37360" y="45262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4A4A"/>
                </a:solidFill>
                <a:latin typeface="Calibri"/>
              </a:rPr>
              <a:t>Targeted suppression of 15% duplicate Rx + 20% redundant labs could meaningfully reduce high-burden encounters without eliminating decision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897880"/>
            <a:ext cx="11430000" cy="685800"/>
          </a:xfrm>
          <a:prstGeom prst="rect">
            <a:avLst/>
          </a:prstGeom>
          <a:solidFill>
            <a:srgbClr val="0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08C00"/>
                </a:solidFill>
                <a:latin typeface="Calibri"/>
              </a:rPr>
              <a:t>"We need smarter CDS systems that deliver the right alert to the right clinician at the right time."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486400" cy="43891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4864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4708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Proxy data — medication orders and lab events estimate alert burden, not direct alert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9689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Single institution — MIMIC-IV is from one health system; patterns may differ elsewhere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4670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No clinician response data — cannot measure override behavior or patient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96512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Suppression scenarios are simulations — real-world impact depends on local CDS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Models do not account for interactions between unit type and diagnosis category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577840" cy="438912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5778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3898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4708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Connect proxy measures with actual CDS alert log data for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96896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Expand predictors to include clinician role, diagnosis category, and order urgency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46704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Study across multiple institutions to test generalizability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96512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Prospective implementation studies testing unit-specific suppression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46320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  <a:latin typeface="Calibri"/>
              </a:rPr>
              <a:t>▸  Explore AI/ML approaches to predict high-burden encounters in real 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1.  AHRQ. (2019). Alert fatigue. PSNet.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21408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2.  Ancker et al. (2017). Effects of workload and repeated alerts on alert fatigue. BMC Medical Informatics.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5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3.  Bakker et al. (2024). CDS alerts tailored to intensive care. The Lancet.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21024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4.  Byers et al. (2003). Negative binomial modeling in aging research. J Clinical Epidemiology.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370831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5.  Hilbe et al. (2022). Statistical methods for count data. BMC Medical Research Methodology.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120640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6.  Johnson et al. (2023). MIMIC-IV dataset. Scientific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7.  Kouri et al. (2023). Defining alert fatigue: A scoping review. BMJ Open.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21408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8.  Payne et al. (2018). Overdispersion thresholds in count models. Comm. Statistics.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71215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9.  Schober &amp; Vetter. (2021). Count data in medical research. Anesthesia &amp; Analgesia.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621024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10.  Sutton et al. (2020). Overview of clinical decision support systems. npj Digital Medicine.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370831"/>
            <a:ext cx="5669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  <a:latin typeface="Calibri"/>
              </a:rPr>
              <a:t>11.  Wong et al. (2023). Facilitators and barriers to CDS interaction in ICU. Critical Care Explorations.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C7293"/>
                </a:solidFill>
                <a:latin typeface="Calibri"/>
              </a:rPr>
              <a:t>Full reference list available in report appendix and GitHub repository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88952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DD8E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834640"/>
            <a:ext cx="5788152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Brianna D. Jackson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DD8E6"/>
                </a:solidFill>
                <a:latin typeface="Calibri"/>
              </a:rPr>
              <a:t>North Carolina A&amp;T State University  |  DAAN 784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7CEEB"/>
                </a:solidFill>
                <a:latin typeface="Calibri"/>
              </a:rPr>
              <a:t>GitHub: github.com/briannajackson1211-wq/alert-fatigue-mimic-iv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72000"/>
            <a:ext cx="10360152" cy="1097280"/>
          </a:xfrm>
          <a:prstGeom prst="rect">
            <a:avLst/>
          </a:prstGeom>
          <a:solidFill>
            <a:srgbClr val="03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08C00"/>
                </a:solidFill>
                <a:latin typeface="Calibri"/>
              </a:rPr>
              <a:t>"We need smarter CDS systems that deliver the right alert to the right clinician at the right time."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2339</Words>
  <Application>Microsoft Office PowerPoint</Application>
  <PresentationFormat>Custom</PresentationFormat>
  <Paragraphs>386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Brianna Jackson</dc:creator>
  <cp:keywords/>
  <dc:description>generated using python-pptx</dc:description>
  <cp:lastModifiedBy>Brianna Jackson</cp:lastModifiedBy>
  <cp:revision>1</cp:revision>
  <dcterms:created xsi:type="dcterms:W3CDTF">2013-01-27T09:14:16Z</dcterms:created>
  <dcterms:modified xsi:type="dcterms:W3CDTF">2026-04-29T00:37:30Z</dcterms:modified>
  <cp:category/>
</cp:coreProperties>
</file>